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charts/chart3.xml" ContentType="application/vnd.openxmlformats-officedocument.drawingml.chart+xml"/>
  <Override PartName="/ppt/notesSlides/notesSlide16.xml" ContentType="application/vnd.openxmlformats-officedocument.presentationml.notesSlide+xml"/>
  <Override PartName="/ppt/charts/chart4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4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638" y="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038"/>
                </a:solidFill>
                <a:latin typeface="Calibri"/>
              </a:defRPr>
            </a:pPr>
            <a:r>
              <a:rPr lang="es-MX" sz="1200" b="0" i="0" u="none" strike="noStrike">
                <a:solidFill>
                  <a:srgbClr val="0F2038"/>
                </a:solidFill>
                <a:latin typeface="Calibri"/>
              </a:rPr>
              <a:t>Crecimiento del porcentaje de victorias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Cambio 2015/16 → 2020/21 (pp)</c:v>
                </c:pt>
              </c:strCache>
            </c:strRef>
          </c:tx>
          <c:spPr>
            <a:solidFill>
              <a:srgbClr val="1C3557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6B7280"/>
                    </a:solidFill>
                    <a:latin typeface="Calibri"/>
                  </a:defRPr>
                </a:pPr>
                <a:endParaRPr lang="es-G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Philadelphia 76ers</c:v>
                </c:pt>
                <c:pt idx="1">
                  <c:v>Phoenix Suns</c:v>
                </c:pt>
                <c:pt idx="2">
                  <c:v>Brooklyn Nets</c:v>
                </c:pt>
                <c:pt idx="3">
                  <c:v>Los Angeles Lakers</c:v>
                </c:pt>
                <c:pt idx="4">
                  <c:v>Denver Nuggets</c:v>
                </c:pt>
                <c:pt idx="5">
                  <c:v>Milwaukee Bucks</c:v>
                </c:pt>
                <c:pt idx="6">
                  <c:v>Utah Jazz</c:v>
                </c:pt>
                <c:pt idx="7">
                  <c:v>New York Knicks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55.86</c:v>
                </c:pt>
                <c:pt idx="1">
                  <c:v>42.78</c:v>
                </c:pt>
                <c:pt idx="2">
                  <c:v>39.67</c:v>
                </c:pt>
                <c:pt idx="3">
                  <c:v>38.99</c:v>
                </c:pt>
                <c:pt idx="4">
                  <c:v>26.42</c:v>
                </c:pt>
                <c:pt idx="5">
                  <c:v>23.64</c:v>
                </c:pt>
                <c:pt idx="6">
                  <c:v>22.05</c:v>
                </c:pt>
                <c:pt idx="7">
                  <c:v>19.309999999999999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44-4659-B522-A9A9D7BA96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038"/>
                </a:solidFill>
                <a:latin typeface="Calibri"/>
              </a:defRPr>
            </a:pPr>
            <a:r>
              <a:rPr lang="es-GT" sz="1200" b="0" i="0" u="none" strike="noStrike">
                <a:solidFill>
                  <a:srgbClr val="0F2038"/>
                </a:solidFill>
                <a:latin typeface="Calibri"/>
              </a:rPr>
              <a:t>Eficiencia financiera en 2020/21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Victorias por US$1M de nómina</c:v>
                </c:pt>
              </c:strCache>
            </c:strRef>
          </c:tx>
          <c:spPr>
            <a:solidFill>
              <a:srgbClr val="E4641E"/>
            </a:solidFill>
            <a:effectLst/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6B7280"/>
                    </a:solidFill>
                    <a:latin typeface="Calibri"/>
                  </a:defRPr>
                </a:pPr>
                <a:endParaRPr lang="es-G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New York Knicks</c:v>
                </c:pt>
                <c:pt idx="1">
                  <c:v>Phoenix Suns</c:v>
                </c:pt>
                <c:pt idx="2">
                  <c:v>Utah Jazz</c:v>
                </c:pt>
                <c:pt idx="3">
                  <c:v>Denver Nuggets</c:v>
                </c:pt>
                <c:pt idx="4">
                  <c:v>Atlanta Hawks</c:v>
                </c:pt>
                <c:pt idx="5">
                  <c:v>Milwaukee Bucks</c:v>
                </c:pt>
                <c:pt idx="6">
                  <c:v>Philadelphia 76ers</c:v>
                </c:pt>
                <c:pt idx="7">
                  <c:v>Portland Trail Blazers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0.43030000000000002</c:v>
                </c:pt>
                <c:pt idx="1">
                  <c:v>0.39579999999999999</c:v>
                </c:pt>
                <c:pt idx="2">
                  <c:v>0.37490000000000001</c:v>
                </c:pt>
                <c:pt idx="3">
                  <c:v>0.37159999999999999</c:v>
                </c:pt>
                <c:pt idx="4">
                  <c:v>0.34560000000000002</c:v>
                </c:pt>
                <c:pt idx="5">
                  <c:v>0.34</c:v>
                </c:pt>
                <c:pt idx="6">
                  <c:v>0.33239999999999997</c:v>
                </c:pt>
                <c:pt idx="7">
                  <c:v>0.3196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AE-4549-8CB4-6BF34474E0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Puntaje de inversión (0-100)</c:v>
                </c:pt>
              </c:strCache>
            </c:strRef>
          </c:tx>
          <c:spPr>
            <a:solidFill>
              <a:srgbClr val="E4641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A5D-4B64-943E-4D6DC71751D8}"/>
              </c:ext>
            </c:extLst>
          </c:dPt>
          <c:dPt>
            <c:idx val="1"/>
            <c:invertIfNegative val="0"/>
            <c:bubble3D val="0"/>
            <c:spPr>
              <a:solidFill>
                <a:srgbClr val="5A7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A5D-4B64-943E-4D6DC71751D8}"/>
              </c:ext>
            </c:extLst>
          </c:dPt>
          <c:dPt>
            <c:idx val="2"/>
            <c:invertIfNegative val="0"/>
            <c:bubble3D val="0"/>
            <c:spPr>
              <a:solidFill>
                <a:srgbClr val="5A7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A5D-4B64-943E-4D6DC71751D8}"/>
              </c:ext>
            </c:extLst>
          </c:dPt>
          <c:dPt>
            <c:idx val="3"/>
            <c:invertIfNegative val="0"/>
            <c:bubble3D val="0"/>
            <c:spPr>
              <a:solidFill>
                <a:srgbClr val="5A7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A5D-4B64-943E-4D6DC71751D8}"/>
              </c:ext>
            </c:extLst>
          </c:dPt>
          <c:dPt>
            <c:idx val="4"/>
            <c:invertIfNegative val="0"/>
            <c:bubble3D val="0"/>
            <c:spPr>
              <a:solidFill>
                <a:srgbClr val="5A7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A5D-4B64-943E-4D6DC71751D8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C9D4E4"/>
                    </a:solidFill>
                    <a:latin typeface="Calibri"/>
                  </a:defRPr>
                </a:pPr>
                <a:endParaRPr lang="es-G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Utah Jazz</c:v>
                </c:pt>
                <c:pt idx="1">
                  <c:v>Milwaukee Bucks</c:v>
                </c:pt>
                <c:pt idx="2">
                  <c:v>Los Angeles Clippers</c:v>
                </c:pt>
                <c:pt idx="3">
                  <c:v>Denver Nuggets</c:v>
                </c:pt>
                <c:pt idx="4">
                  <c:v>Portland Trail Blazers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75.14</c:v>
                </c:pt>
                <c:pt idx="1">
                  <c:v>68.099999999999994</c:v>
                </c:pt>
                <c:pt idx="2">
                  <c:v>66.28</c:v>
                </c:pt>
                <c:pt idx="3">
                  <c:v>62.54</c:v>
                </c:pt>
                <c:pt idx="4">
                  <c:v>59.77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A5D-4B64-943E-4D6DC71751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DCE5F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Puntaje del ganador</c:v>
                </c:pt>
              </c:strCache>
            </c:strRef>
          </c:tx>
          <c:spPr>
            <a:solidFill>
              <a:srgbClr val="E4641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Calibri"/>
                  </a:defRPr>
                </a:pPr>
                <a:endParaRPr lang="es-G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Prioriza deportivo</c:v>
                </c:pt>
                <c:pt idx="1">
                  <c:v>Prioriza financiero</c:v>
                </c:pt>
                <c:pt idx="2">
                  <c:v>Equilibrado</c:v>
                </c:pt>
                <c:pt idx="3">
                  <c:v>Prioriza talento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77.02</c:v>
                </c:pt>
                <c:pt idx="1">
                  <c:v>76.77</c:v>
                </c:pt>
                <c:pt idx="2">
                  <c:v>75.14</c:v>
                </c:pt>
                <c:pt idx="3">
                  <c:v>71.62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63-4DEF-990E-DD8787FB4DC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1127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Presenta el grupo y deja clara la pregunta de negocio antes de hablar de tablas.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6BD87-9ECC-DA2A-2013-7BF5601E8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32FDD9-6F5F-2557-9C08-9CCA43D3CB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3558BD-A932-A107-307E-34505C636F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Presenta el grupo y deja clara la pregunta de negocio antes de hablar de tablas.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0DD3C5-02FE-1E14-8836-37E27EDE04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33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 en que ningún indicador solo decide; los tres pilares evitan que el ranking premie una sola dimensión.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selección de fuentes es una decisión de diseño: se justifican por las preguntas, no por el volumen de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preguntan por FKs: game_official referencia game y official; player_attribute referencia player. Las relaciones con team_salary se resuelven por nombre en las consultas porque la fuente salarial no trae team_id.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 fuerte para el catedrático: nada pesado ni privado vive en el repositorio. Data.zip se lee directo desde el ZIP y la respuesta del API se guarda en caché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es el que demuestra criterio. Cada decisión está documentada en docs/data_quality.md y validada con database/validation.sql, que incluye una consulta que debe dar cero resultados inválidos.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leas los cuatro resultados en voz alta como lista. Elige Q4 para detenerte: es la que conecta con la Etapa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Q7 tiene truco: se enlaza por player_id y no por nombre, y se exige mínimo 20 juegos para no premiar muestras diminutas.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Prepara una consulta para mostrar en vivo si la piden: la número 2 o la 6 son las más claras para explicar el patrón UNION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el slide que blinda la nota: se anticipa la objeción de que un CTE no sea una subconsulta.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por qué los pesos son iguales: no había evidencia externa que justificara privilegiar un pilar, y la prueba de sensibilidad se hace justamente para cubrir esa decisión.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mensaje: Philadelphia crece más, pero crecer desde muy abajo no equivale a ser buena inversión. Por eso el pilar mezcla nivel, estabilidad, margen y crecimiento.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 que la eficiencia aislada la gana New York, pero los Knicks se caen en talento y en historial. El ranking existe justamente para no premiar una sola métrica.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clímax de la presentación. Diga la respuesta en una frase y después explique la tabla por columnas, no por filas.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defensa anticipada contra la pregunta '¿y si cambian los pesos?'. Responderla antes de que la hagan da mucha credibilidad.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Decir las limitaciones antes de que las señalen no debilita la presentación: la fortalece, porque demuestra que se entiende el alcance del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con la respuesta, no con un resumen del proceso. Luego abre preguntas mirando al catedrático.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37960" y="777240"/>
            <a:ext cx="3291840" cy="3291840"/>
          </a:xfrm>
          <a:prstGeom prst="ellipse">
            <a:avLst/>
          </a:prstGeom>
          <a:solidFill>
            <a:srgbClr val="E4641E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" name="Shape 1"/>
          <p:cNvSpPr/>
          <p:nvPr/>
        </p:nvSpPr>
        <p:spPr>
          <a:xfrm>
            <a:off x="7269480" y="1508760"/>
            <a:ext cx="1828800" cy="1828800"/>
          </a:xfrm>
          <a:prstGeom prst="ellipse">
            <a:avLst/>
          </a:prstGeom>
          <a:solidFill>
            <a:srgbClr val="E4641E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80" dirty="0">
                <a:solidFill>
                  <a:srgbClr val="F7C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CC3088 · BASE DE DATOS 1 · PROYECTO #1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¿En qué equipo de la NBA</a:t>
            </a:r>
            <a:endParaRPr lang="en-US" sz="3200" dirty="0"/>
          </a:p>
          <a:p>
            <a:pPr marL="0" indent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invertiríamos para 2021/22?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8036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base de datos PostgreSQL con seis temporadas de partidos, salarios, draft y estadísticas de NBA API, usada para responder una pregunta de inversión.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88620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 Arana · Christopher García · Rodrigo Ramírez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del Valle de Guatemala · Catedrático: Mario Barrientos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FA4AA-862A-FFCA-66AF-2296B288F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F1E709D2-9334-F4EA-64F9-687FA3A07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2549" y="50274"/>
            <a:ext cx="5042951" cy="5042951"/>
          </a:xfrm>
          <a:prstGeom prst="rect">
            <a:avLst/>
          </a:prstGeom>
        </p:spPr>
      </p:pic>
      <p:sp>
        <p:nvSpPr>
          <p:cNvPr id="11" name="Text 1">
            <a:extLst>
              <a:ext uri="{FF2B5EF4-FFF2-40B4-BE49-F238E27FC236}">
                <a16:creationId xmlns:a16="http://schemas.microsoft.com/office/drawing/2014/main" id="{F564DF94-3F6E-3144-923F-E73DF4954D46}"/>
              </a:ext>
            </a:extLst>
          </p:cNvPr>
          <p:cNvSpPr txBox="1"/>
          <p:nvPr/>
        </p:nvSpPr>
        <p:spPr>
          <a:xfrm rot="5400000">
            <a:off x="4756736" y="399421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ENTIDAD RELACION </a:t>
            </a:r>
            <a:endParaRPr lang="en-US" sz="2600" dirty="0"/>
          </a:p>
        </p:txBody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6E265043-CA57-0750-58E6-58F0F2B6BD71}"/>
              </a:ext>
            </a:extLst>
          </p:cNvPr>
          <p:cNvSpPr/>
          <p:nvPr/>
        </p:nvSpPr>
        <p:spPr>
          <a:xfrm>
            <a:off x="-1415982" y="959087"/>
            <a:ext cx="2395696" cy="2746639"/>
          </a:xfrm>
          <a:prstGeom prst="ellipse">
            <a:avLst/>
          </a:prstGeom>
          <a:solidFill>
            <a:srgbClr val="E4641E"/>
          </a:solidFill>
          <a:ln/>
        </p:spPr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432801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02920" y="566928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pregunta de negocio, no una estadística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31920" cy="1371600"/>
          </a:xfrm>
          <a:prstGeom prst="roundRect">
            <a:avLst>
              <a:gd name="adj" fmla="val 4000"/>
            </a:avLst>
          </a:prstGeom>
          <a:solidFill>
            <a:srgbClr val="0F203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 txBox="1"/>
          <p:nvPr/>
        </p:nvSpPr>
        <p:spPr>
          <a:xfrm>
            <a:off x="731520" y="1481328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“¿En qué equipo invertiríamos para la temporada 2021/22?”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de análisis: 2015/16 a 2020/21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estricto: no se usan resultados de 2021/22 para decidir sobre 2021/22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construida con SQL, reproducible y documentada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325880"/>
            <a:ext cx="3931920" cy="9144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8" name="Shape 6"/>
          <p:cNvSpPr/>
          <p:nvPr/>
        </p:nvSpPr>
        <p:spPr>
          <a:xfrm>
            <a:off x="4919472" y="1581912"/>
            <a:ext cx="384048" cy="384048"/>
          </a:xfrm>
          <a:prstGeom prst="ellipse">
            <a:avLst/>
          </a:prstGeom>
          <a:solidFill>
            <a:srgbClr val="1C3557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9" name="Text 7"/>
          <p:cNvSpPr txBox="1"/>
          <p:nvPr/>
        </p:nvSpPr>
        <p:spPr>
          <a:xfrm>
            <a:off x="4919472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14721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deportivo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17556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¿Gana, gana de forma estable y gana con margen?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2377440"/>
            <a:ext cx="3931920" cy="9144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3" name="Shape 11"/>
          <p:cNvSpPr/>
          <p:nvPr/>
        </p:nvSpPr>
        <p:spPr>
          <a:xfrm>
            <a:off x="4919472" y="2633472"/>
            <a:ext cx="384048" cy="384048"/>
          </a:xfrm>
          <a:prstGeom prst="ellipse">
            <a:avLst/>
          </a:prstGeom>
          <a:solidFill>
            <a:srgbClr val="1C3557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4" name="Text 12"/>
          <p:cNvSpPr txBox="1"/>
          <p:nvPr/>
        </p:nvSpPr>
        <p:spPr>
          <a:xfrm>
            <a:off x="4919472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40680" y="25237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financiera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40680" y="28072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¿Cuántas victorias obtiene por cada millón de nómina?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3429000"/>
            <a:ext cx="3931920" cy="9144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8" name="Shape 16"/>
          <p:cNvSpPr/>
          <p:nvPr/>
        </p:nvSpPr>
        <p:spPr>
          <a:xfrm>
            <a:off x="4919472" y="3685032"/>
            <a:ext cx="384048" cy="384048"/>
          </a:xfrm>
          <a:prstGeom prst="ellipse">
            <a:avLst/>
          </a:prstGeom>
          <a:solidFill>
            <a:srgbClr val="1C3557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9" name="Text 17"/>
          <p:cNvSpPr txBox="1"/>
          <p:nvPr/>
        </p:nvSpPr>
        <p:spPr>
          <a:xfrm>
            <a:off x="4919472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40680" y="35753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Talento de plantilla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38587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¿Cuánta producción tiene y qué tan repartida está?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7091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02920" y="566928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14 archivos a las 8 fuentes que importan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5257800" cy="2633472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 de destino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Team.csv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Player.csv / Player_Attributes.csv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 / player_attribute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Game.csv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Game_Officials.csv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 / game_official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Player_Salary.csv / Team_Salary.csv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player_salary / team_salary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Draft.csv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draft_pick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NBA API 2020/21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player_season_stat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2"/>
          <p:cNvSpPr txBox="1"/>
          <p:nvPr/>
        </p:nvSpPr>
        <p:spPr>
          <a:xfrm>
            <a:off x="502920" y="416052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CSV de noticias, combine, jugadores inactivos e historial de equipos quedaron fuera: no alimentaban ninguna consulta.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035040" y="137160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0F203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7" name="Text 4"/>
          <p:cNvSpPr txBox="1"/>
          <p:nvPr/>
        </p:nvSpPr>
        <p:spPr>
          <a:xfrm>
            <a:off x="6217920" y="148132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46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626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217920" y="202996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jugador–equipo traídos de NBA API para 2020/21 (540 jugadores únicos)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035040" y="292608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F1F4F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0" name="Text 7"/>
          <p:cNvSpPr txBox="1"/>
          <p:nvPr/>
        </p:nvSpPr>
        <p:spPr>
          <a:xfrm>
            <a:off x="6217920" y="30358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el API?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217920" y="32918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CSV no traían PTS, AST, REB ni plus/minus por jugador y temporada. Sin eso no existe el pilar de talento.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47091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02920" y="566928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físico: diez tablas y una llave corregida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536192" cy="749808"/>
          </a:xfrm>
          <a:prstGeom prst="roundRect">
            <a:avLst>
              <a:gd name="adj" fmla="val 7317"/>
            </a:avLst>
          </a:prstGeom>
          <a:solidFill>
            <a:srgbClr val="F1F4F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" name="Shape 3"/>
          <p:cNvSpPr/>
          <p:nvPr/>
        </p:nvSpPr>
        <p:spPr>
          <a:xfrm>
            <a:off x="612648" y="1545336"/>
            <a:ext cx="118872" cy="118872"/>
          </a:xfrm>
          <a:prstGeom prst="ellipse">
            <a:avLst/>
          </a:prstGeom>
          <a:solidFill>
            <a:srgbClr val="1C3557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 txBox="1"/>
          <p:nvPr/>
        </p:nvSpPr>
        <p:spPr>
          <a:xfrm>
            <a:off x="795528" y="150876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1773936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team_id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157984" y="1371600"/>
            <a:ext cx="1536192" cy="749808"/>
          </a:xfrm>
          <a:prstGeom prst="roundRect">
            <a:avLst>
              <a:gd name="adj" fmla="val 7317"/>
            </a:avLst>
          </a:prstGeom>
          <a:solidFill>
            <a:srgbClr val="F1F4F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9" name="Shape 7"/>
          <p:cNvSpPr/>
          <p:nvPr/>
        </p:nvSpPr>
        <p:spPr>
          <a:xfrm>
            <a:off x="2267712" y="1545336"/>
            <a:ext cx="118872" cy="118872"/>
          </a:xfrm>
          <a:prstGeom prst="ellipse">
            <a:avLst/>
          </a:prstGeom>
          <a:solidFill>
            <a:srgbClr val="1C3557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 txBox="1"/>
          <p:nvPr/>
        </p:nvSpPr>
        <p:spPr>
          <a:xfrm>
            <a:off x="2450592" y="150876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267712" y="1773936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player_id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813048" y="1371600"/>
            <a:ext cx="1536192" cy="749808"/>
          </a:xfrm>
          <a:prstGeom prst="roundRect">
            <a:avLst>
              <a:gd name="adj" fmla="val 7317"/>
            </a:avLst>
          </a:prstGeom>
          <a:solidFill>
            <a:srgbClr val="F1F4F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3" name="Shape 11"/>
          <p:cNvSpPr/>
          <p:nvPr/>
        </p:nvSpPr>
        <p:spPr>
          <a:xfrm>
            <a:off x="3922776" y="1545336"/>
            <a:ext cx="118872" cy="118872"/>
          </a:xfrm>
          <a:prstGeom prst="ellipse">
            <a:avLst/>
          </a:prstGeom>
          <a:solidFill>
            <a:srgbClr val="1C3557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4" name="Text 12"/>
          <p:cNvSpPr txBox="1"/>
          <p:nvPr/>
        </p:nvSpPr>
        <p:spPr>
          <a:xfrm>
            <a:off x="4105656" y="150876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player_attribute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922776" y="1773936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PK/FK player_id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68112" y="1371600"/>
            <a:ext cx="1536192" cy="749808"/>
          </a:xfrm>
          <a:prstGeom prst="roundRect">
            <a:avLst>
              <a:gd name="adj" fmla="val 7317"/>
            </a:avLst>
          </a:prstGeom>
          <a:solidFill>
            <a:srgbClr val="F1F4F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7" name="Shape 15"/>
          <p:cNvSpPr/>
          <p:nvPr/>
        </p:nvSpPr>
        <p:spPr>
          <a:xfrm>
            <a:off x="5577840" y="1545336"/>
            <a:ext cx="118872" cy="118872"/>
          </a:xfrm>
          <a:prstGeom prst="ellipse">
            <a:avLst/>
          </a:prstGeom>
          <a:solidFill>
            <a:srgbClr val="1C3557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8" name="Text 16"/>
          <p:cNvSpPr txBox="1"/>
          <p:nvPr/>
        </p:nvSpPr>
        <p:spPr>
          <a:xfrm>
            <a:off x="5760720" y="150876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577840" y="1773936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game_id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123176" y="1371600"/>
            <a:ext cx="1536192" cy="749808"/>
          </a:xfrm>
          <a:prstGeom prst="roundRect">
            <a:avLst>
              <a:gd name="adj" fmla="val 7317"/>
            </a:avLst>
          </a:prstGeom>
          <a:solidFill>
            <a:srgbClr val="F1F4F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1" name="Shape 19"/>
          <p:cNvSpPr/>
          <p:nvPr/>
        </p:nvSpPr>
        <p:spPr>
          <a:xfrm>
            <a:off x="7232904" y="1545336"/>
            <a:ext cx="118872" cy="118872"/>
          </a:xfrm>
          <a:prstGeom prst="ellipse">
            <a:avLst/>
          </a:prstGeom>
          <a:solidFill>
            <a:srgbClr val="1C3557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2" name="Text 20"/>
          <p:cNvSpPr txBox="1"/>
          <p:nvPr/>
        </p:nvSpPr>
        <p:spPr>
          <a:xfrm>
            <a:off x="7415784" y="150876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232904" y="1773936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official_id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" y="2267712"/>
            <a:ext cx="1536192" cy="749808"/>
          </a:xfrm>
          <a:prstGeom prst="roundRect">
            <a:avLst>
              <a:gd name="adj" fmla="val 7317"/>
            </a:avLst>
          </a:prstGeom>
          <a:solidFill>
            <a:srgbClr val="F1F4F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5" name="Shape 23"/>
          <p:cNvSpPr/>
          <p:nvPr/>
        </p:nvSpPr>
        <p:spPr>
          <a:xfrm>
            <a:off x="612648" y="2441448"/>
            <a:ext cx="118872" cy="118872"/>
          </a:xfrm>
          <a:prstGeom prst="ellipse">
            <a:avLst/>
          </a:prstGeom>
          <a:solidFill>
            <a:srgbClr val="1C3557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6" name="Text 24"/>
          <p:cNvSpPr txBox="1"/>
          <p:nvPr/>
        </p:nvSpPr>
        <p:spPr>
          <a:xfrm>
            <a:off x="795528" y="240487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game_official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12648" y="267004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(game, official)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157984" y="2267712"/>
            <a:ext cx="1536192" cy="749808"/>
          </a:xfrm>
          <a:prstGeom prst="roundRect">
            <a:avLst>
              <a:gd name="adj" fmla="val 7317"/>
            </a:avLst>
          </a:prstGeom>
          <a:solidFill>
            <a:srgbClr val="F1F4F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9" name="Shape 27"/>
          <p:cNvSpPr/>
          <p:nvPr/>
        </p:nvSpPr>
        <p:spPr>
          <a:xfrm>
            <a:off x="2267712" y="2441448"/>
            <a:ext cx="118872" cy="118872"/>
          </a:xfrm>
          <a:prstGeom prst="ellipse">
            <a:avLst/>
          </a:prstGeom>
          <a:solidFill>
            <a:srgbClr val="1C3557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0" name="Text 28"/>
          <p:cNvSpPr txBox="1"/>
          <p:nvPr/>
        </p:nvSpPr>
        <p:spPr>
          <a:xfrm>
            <a:off x="2450592" y="240487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player_salary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2267712" y="267004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salary_id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813048" y="2267712"/>
            <a:ext cx="1536192" cy="749808"/>
          </a:xfrm>
          <a:prstGeom prst="roundRect">
            <a:avLst>
              <a:gd name="adj" fmla="val 7317"/>
            </a:avLst>
          </a:prstGeom>
          <a:solidFill>
            <a:srgbClr val="F1F4F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3" name="Shape 31"/>
          <p:cNvSpPr/>
          <p:nvPr/>
        </p:nvSpPr>
        <p:spPr>
          <a:xfrm>
            <a:off x="3922776" y="2441448"/>
            <a:ext cx="118872" cy="118872"/>
          </a:xfrm>
          <a:prstGeom prst="ellipse">
            <a:avLst/>
          </a:prstGeom>
          <a:solidFill>
            <a:srgbClr val="1C3557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4" name="Text 32"/>
          <p:cNvSpPr txBox="1"/>
          <p:nvPr/>
        </p:nvSpPr>
        <p:spPr>
          <a:xfrm>
            <a:off x="4105656" y="240487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team_salary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3922776" y="267004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team_name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468112" y="2267712"/>
            <a:ext cx="1536192" cy="749808"/>
          </a:xfrm>
          <a:prstGeom prst="roundRect">
            <a:avLst>
              <a:gd name="adj" fmla="val 7317"/>
            </a:avLst>
          </a:prstGeom>
          <a:solidFill>
            <a:srgbClr val="F1F4F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7" name="Shape 35"/>
          <p:cNvSpPr/>
          <p:nvPr/>
        </p:nvSpPr>
        <p:spPr>
          <a:xfrm>
            <a:off x="5577840" y="2441448"/>
            <a:ext cx="118872" cy="118872"/>
          </a:xfrm>
          <a:prstGeom prst="ellipse">
            <a:avLst/>
          </a:prstGeom>
          <a:solidFill>
            <a:srgbClr val="E4641E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8" name="Text 36"/>
          <p:cNvSpPr txBox="1"/>
          <p:nvPr/>
        </p:nvSpPr>
        <p:spPr>
          <a:xfrm>
            <a:off x="5760720" y="240487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draft_pick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5577840" y="267004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compuesta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123176" y="2267712"/>
            <a:ext cx="1536192" cy="749808"/>
          </a:xfrm>
          <a:prstGeom prst="roundRect">
            <a:avLst>
              <a:gd name="adj" fmla="val 7317"/>
            </a:avLst>
          </a:prstGeom>
          <a:solidFill>
            <a:srgbClr val="F1F4F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41" name="Shape 39"/>
          <p:cNvSpPr/>
          <p:nvPr/>
        </p:nvSpPr>
        <p:spPr>
          <a:xfrm>
            <a:off x="7232904" y="2441448"/>
            <a:ext cx="118872" cy="118872"/>
          </a:xfrm>
          <a:prstGeom prst="ellipse">
            <a:avLst/>
          </a:prstGeom>
          <a:solidFill>
            <a:srgbClr val="1C3557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42" name="Text 40"/>
          <p:cNvSpPr txBox="1"/>
          <p:nvPr/>
        </p:nvSpPr>
        <p:spPr>
          <a:xfrm>
            <a:off x="7415784" y="240487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player_season_stat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7232904" y="267004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(player, season, team)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02920" y="3291840"/>
            <a:ext cx="8138160" cy="1097280"/>
          </a:xfrm>
          <a:prstGeom prst="roundRect">
            <a:avLst>
              <a:gd name="adj" fmla="val 5000"/>
            </a:avLst>
          </a:prstGeom>
          <a:solidFill>
            <a:srgbClr val="0F203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45" name="Text 43"/>
          <p:cNvSpPr txBox="1"/>
          <p:nvPr/>
        </p:nvSpPr>
        <p:spPr>
          <a:xfrm>
            <a:off x="731520" y="34198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4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corrección clave: draft_pick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731520" y="3694176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llave primaria original perdía filas porque muchas selecciones históricas comparten overall_pick = 0. Se pasó a la llave compuesta (draft_year, overall_pick, player_name) y así se conservan los 7,890 registros del archivo de draft.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7091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02920" y="566928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carga que se puede repetir sin duplicar nada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874520" cy="1371600"/>
          </a:xfrm>
          <a:prstGeom prst="roundRect">
            <a:avLst>
              <a:gd name="adj" fmla="val 4000"/>
            </a:avLst>
          </a:prstGeom>
          <a:solidFill>
            <a:srgbClr val="F1F4F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" name="Shape 3"/>
          <p:cNvSpPr/>
          <p:nvPr/>
        </p:nvSpPr>
        <p:spPr>
          <a:xfrm>
            <a:off x="667512" y="1517904"/>
            <a:ext cx="329184" cy="329184"/>
          </a:xfrm>
          <a:prstGeom prst="ellipse">
            <a:avLst/>
          </a:prstGeom>
          <a:solidFill>
            <a:srgbClr val="E4641E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 txBox="1"/>
          <p:nvPr/>
        </p:nvSpPr>
        <p:spPr>
          <a:xfrm>
            <a:off x="667512" y="1517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schema.sql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21762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nba_project y las diez tablas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182880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4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587752" y="1371600"/>
            <a:ext cx="1874520" cy="1371600"/>
          </a:xfrm>
          <a:prstGeom prst="roundRect">
            <a:avLst>
              <a:gd name="adj" fmla="val 4000"/>
            </a:avLst>
          </a:prstGeom>
          <a:solidFill>
            <a:srgbClr val="F1F4F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1" name="Shape 9"/>
          <p:cNvSpPr/>
          <p:nvPr/>
        </p:nvSpPr>
        <p:spPr>
          <a:xfrm>
            <a:off x="2752344" y="1517904"/>
            <a:ext cx="329184" cy="329184"/>
          </a:xfrm>
          <a:prstGeom prst="ellipse">
            <a:avLst/>
          </a:prstGeom>
          <a:solidFill>
            <a:srgbClr val="E4641E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2" name="Text 10"/>
          <p:cNvSpPr txBox="1"/>
          <p:nvPr/>
        </p:nvSpPr>
        <p:spPr>
          <a:xfrm>
            <a:off x="2752344" y="1517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752344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752344" y="21762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y ruta de Data.zip, fuera de Git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462272" y="182880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4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672584" y="1371600"/>
            <a:ext cx="1874520" cy="1371600"/>
          </a:xfrm>
          <a:prstGeom prst="roundRect">
            <a:avLst>
              <a:gd name="adj" fmla="val 4000"/>
            </a:avLst>
          </a:prstGeom>
          <a:solidFill>
            <a:srgbClr val="F1F4F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7" name="Shape 15"/>
          <p:cNvSpPr/>
          <p:nvPr/>
        </p:nvSpPr>
        <p:spPr>
          <a:xfrm>
            <a:off x="4837176" y="1517904"/>
            <a:ext cx="329184" cy="329184"/>
          </a:xfrm>
          <a:prstGeom prst="ellipse">
            <a:avLst/>
          </a:prstGeom>
          <a:solidFill>
            <a:srgbClr val="E4641E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8" name="Text 16"/>
          <p:cNvSpPr txBox="1"/>
          <p:nvPr/>
        </p:nvSpPr>
        <p:spPr>
          <a:xfrm>
            <a:off x="4837176" y="1517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837176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load_data.py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837176" y="21762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Data.zip en memoria e inserta por lotes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547104" y="182880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4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757416" y="1371600"/>
            <a:ext cx="1874520" cy="1371600"/>
          </a:xfrm>
          <a:prstGeom prst="roundRect">
            <a:avLst>
              <a:gd name="adj" fmla="val 4000"/>
            </a:avLst>
          </a:prstGeom>
          <a:solidFill>
            <a:srgbClr val="F1F4F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3" name="Shape 21"/>
          <p:cNvSpPr/>
          <p:nvPr/>
        </p:nvSpPr>
        <p:spPr>
          <a:xfrm>
            <a:off x="6922008" y="1517904"/>
            <a:ext cx="329184" cy="329184"/>
          </a:xfrm>
          <a:prstGeom prst="ellipse">
            <a:avLst/>
          </a:prstGeom>
          <a:solidFill>
            <a:srgbClr val="E4641E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4" name="Text 22"/>
          <p:cNvSpPr txBox="1"/>
          <p:nvPr/>
        </p:nvSpPr>
        <p:spPr>
          <a:xfrm>
            <a:off x="6922008" y="1517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922008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nba_api_ingest.py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922008" y="21762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NBA API por equipo y cachea la respuesta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29260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Idempotencia: </a:t>
            </a: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INSERT usan ON CONFLICT, así que volver a correr los cargadores actualiza en vez de duplicar. Los vacíos se convierten a NULL y los numéricos se normalizan antes de insertar.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760720" y="3127248"/>
            <a:ext cx="2880360" cy="457200"/>
          </a:xfrm>
          <a:prstGeom prst="roundRect">
            <a:avLst>
              <a:gd name="adj" fmla="val 12000"/>
            </a:avLst>
          </a:prstGeom>
          <a:solidFill>
            <a:srgbClr val="0F203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9" name="Text 27"/>
          <p:cNvSpPr txBox="1"/>
          <p:nvPr/>
        </p:nvSpPr>
        <p:spPr>
          <a:xfrm>
            <a:off x="5897880" y="320040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6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62,379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949440" y="32004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partidos únicos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760720" y="3675888"/>
            <a:ext cx="2880360" cy="457200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2" name="Text 30"/>
          <p:cNvSpPr txBox="1"/>
          <p:nvPr/>
        </p:nvSpPr>
        <p:spPr>
          <a:xfrm>
            <a:off x="5897880" y="374904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7,890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949440" y="374904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draft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760720" y="4224528"/>
            <a:ext cx="2880360" cy="457200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5" name="Text 33"/>
          <p:cNvSpPr txBox="1"/>
          <p:nvPr/>
        </p:nvSpPr>
        <p:spPr>
          <a:xfrm>
            <a:off x="5897880" y="429768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626 / 540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949440" y="42976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y jugadores del API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5760720" y="2852928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Comprobaciones posteriores a la carga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47091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02920" y="566928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problemas que sí cambiaban los resultados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310896" cy="310896"/>
          </a:xfrm>
          <a:prstGeom prst="ellipse">
            <a:avLst/>
          </a:prstGeom>
          <a:solidFill>
            <a:srgbClr val="E4641E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 txBox="1"/>
          <p:nvPr/>
        </p:nvSpPr>
        <p:spPr>
          <a:xfrm>
            <a:off x="502920" y="1353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2984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game_id repetidos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794760" y="129844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verificó que coincidieran en fecha, equipos y marcador antes de conservar game_id como PK.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1901952"/>
            <a:ext cx="8138160" cy="0"/>
          </a:xfrm>
          <a:prstGeom prst="line">
            <a:avLst/>
          </a:prstGeom>
          <a:noFill/>
          <a:ln w="9525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310896" cy="310896"/>
          </a:xfrm>
          <a:prstGeom prst="ellipse">
            <a:avLst/>
          </a:prstGeom>
          <a:solidFill>
            <a:srgbClr val="E4641E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 txBox="1"/>
          <p:nvPr/>
        </p:nvSpPr>
        <p:spPr>
          <a:xfrm>
            <a:off x="50292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195681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partidos de 2020 sin W/L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195681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victorias y derrotas se reconstruyeron desde el marcador.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560320"/>
            <a:ext cx="8138160" cy="0"/>
          </a:xfrm>
          <a:prstGeom prst="line">
            <a:avLst/>
          </a:prstGeom>
          <a:noFill/>
          <a:ln w="9525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4" name="Shape 12"/>
          <p:cNvSpPr/>
          <p:nvPr/>
        </p:nvSpPr>
        <p:spPr>
          <a:xfrm>
            <a:off x="502920" y="2670048"/>
            <a:ext cx="310896" cy="310896"/>
          </a:xfrm>
          <a:prstGeom prst="ellipse">
            <a:avLst/>
          </a:prstGeom>
          <a:solidFill>
            <a:srgbClr val="E4641E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5" name="Text 13"/>
          <p:cNvSpPr txBox="1"/>
          <p:nvPr/>
        </p:nvSpPr>
        <p:spPr>
          <a:xfrm>
            <a:off x="502920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261518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Nombres de equipo distintos entre archivos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794760" y="261518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Clippers vs Los Angeles Clippers: se enlaza primero por team_id y luego por nombre canónico.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218688"/>
            <a:ext cx="8138160" cy="0"/>
          </a:xfrm>
          <a:prstGeom prst="line">
            <a:avLst/>
          </a:prstGeom>
          <a:noFill/>
          <a:ln w="9525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9" name="Shape 17"/>
          <p:cNvSpPr/>
          <p:nvPr/>
        </p:nvSpPr>
        <p:spPr>
          <a:xfrm>
            <a:off x="502920" y="3328416"/>
            <a:ext cx="310896" cy="310896"/>
          </a:xfrm>
          <a:prstGeom prst="ellipse">
            <a:avLst/>
          </a:prstGeom>
          <a:solidFill>
            <a:srgbClr val="E4641E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0" name="Text 18"/>
          <p:cNvSpPr txBox="1"/>
          <p:nvPr/>
        </p:nvSpPr>
        <p:spPr>
          <a:xfrm>
            <a:off x="502920" y="3328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32735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Jugadores traspasados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794760" y="327355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API se consultó por equipo y cada periodo se guardó por separado, ponderando por partidos jugados.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877056"/>
            <a:ext cx="8138160" cy="0"/>
          </a:xfrm>
          <a:prstGeom prst="line">
            <a:avLst/>
          </a:prstGeom>
          <a:noFill/>
          <a:ln w="9525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4" name="Shape 22"/>
          <p:cNvSpPr/>
          <p:nvPr/>
        </p:nvSpPr>
        <p:spPr>
          <a:xfrm>
            <a:off x="502920" y="3986784"/>
            <a:ext cx="310896" cy="310896"/>
          </a:xfrm>
          <a:prstGeom prst="ellipse">
            <a:avLst/>
          </a:prstGeom>
          <a:solidFill>
            <a:srgbClr val="E4641E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5" name="Text 23"/>
          <p:cNvSpPr txBox="1"/>
          <p:nvPr/>
        </p:nvSpPr>
        <p:spPr>
          <a:xfrm>
            <a:off x="502920" y="3986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60120" y="3931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Promedios redondeados del API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3794760" y="3931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PTS, AST y REB llegan redondeados: la dependencia de la estrella es una estimación, no un dato exacto.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229600" y="47091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02920" y="566928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 2: las ocho preguntas obligatorias (1 de 2)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31920" cy="1463040"/>
          </a:xfrm>
          <a:prstGeom prst="roundRect">
            <a:avLst>
              <a:gd name="adj" fmla="val 3750"/>
            </a:avLst>
          </a:prstGeom>
          <a:solidFill>
            <a:srgbClr val="F1F4F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 txBox="1"/>
          <p:nvPr/>
        </p:nvSpPr>
        <p:spPr>
          <a:xfrm>
            <a:off x="704088" y="14721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6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49047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Extremos de altura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1828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Tacko Fall 89" y Chris Clemons 69" entre los activos.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24048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+ regex para limpiar la altura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3931920" cy="1463040"/>
          </a:xfrm>
          <a:prstGeom prst="roundRect">
            <a:avLst>
              <a:gd name="adj" fmla="val 3750"/>
            </a:avLst>
          </a:prstGeom>
          <a:solidFill>
            <a:srgbClr val="F1F4F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 txBox="1"/>
          <p:nvPr/>
        </p:nvSpPr>
        <p:spPr>
          <a:xfrm>
            <a:off x="4864608" y="14721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6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149047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 y defensa por temporada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864608" y="1828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Utah pasa de 97.68 / 95.89 en 2015/16 a 112.56 / 103.64 en 2020/21.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864608" y="24048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con UNION ALL + GROUP BY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2953512"/>
            <a:ext cx="3931920" cy="1463040"/>
          </a:xfrm>
          <a:prstGeom prst="roundRect">
            <a:avLst>
              <a:gd name="adj" fmla="val 3750"/>
            </a:avLst>
          </a:prstGeom>
          <a:solidFill>
            <a:srgbClr val="F1F4F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5" name="Text 13"/>
          <p:cNvSpPr txBox="1"/>
          <p:nvPr/>
        </p:nvSpPr>
        <p:spPr>
          <a:xfrm>
            <a:off x="704088" y="3099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6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11810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Árbitros y derrotas visitantes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" y="34564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Washington encabeza con 693 derrotas visitantes.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04088" y="40325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JOIN + GROUP BY, sin causalidad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2953512"/>
            <a:ext cx="3931920" cy="1463040"/>
          </a:xfrm>
          <a:prstGeom prst="roundRect">
            <a:avLst>
              <a:gd name="adj" fmla="val 3750"/>
            </a:avLst>
          </a:prstGeom>
          <a:solidFill>
            <a:srgbClr val="F1F4F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0" name="Text 18"/>
          <p:cNvSpPr txBox="1"/>
          <p:nvPr/>
        </p:nvSpPr>
        <p:spPr>
          <a:xfrm>
            <a:off x="4864608" y="3099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6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311810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Nómina frente a talento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864608" y="34564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salario–talento ≈ 0.413.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864608" y="40325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corr() + RANK() + subconsulta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7091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E4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2 · CHRISTOPHER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 2: las ocho preguntas obligatorias (2 de 2)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31920" cy="1463040"/>
          </a:xfrm>
          <a:prstGeom prst="roundRect">
            <a:avLst>
              <a:gd name="adj" fmla="val 3750"/>
            </a:avLst>
          </a:prstGeom>
          <a:solidFill>
            <a:srgbClr val="F1F4F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 txBox="1"/>
          <p:nvPr/>
        </p:nvSpPr>
        <p:spPr>
          <a:xfrm>
            <a:off x="704088" y="14721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6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49047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y duración de temporadas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1828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 temporadas llegan a 1,230 partidos; la de 2019 duró 297 días.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24048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Subconsulta con MAX + fechas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3931920" cy="1463040"/>
          </a:xfrm>
          <a:prstGeom prst="roundRect">
            <a:avLst>
              <a:gd name="adj" fmla="val 3750"/>
            </a:avLst>
          </a:prstGeom>
          <a:solidFill>
            <a:srgbClr val="F1F4F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 txBox="1"/>
          <p:nvPr/>
        </p:nvSpPr>
        <p:spPr>
          <a:xfrm>
            <a:off x="4864608" y="14721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6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149047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margen promedio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864608" y="1828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 8.48 en 2017; Milwaukee 8.87 en 2018.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864608" y="24048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 OVER (PARTITION BY)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2953512"/>
            <a:ext cx="3931920" cy="1463040"/>
          </a:xfrm>
          <a:prstGeom prst="roundRect">
            <a:avLst>
              <a:gd name="adj" fmla="val 3750"/>
            </a:avLst>
          </a:prstGeom>
          <a:solidFill>
            <a:srgbClr val="F1F4F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5" name="Text 13"/>
          <p:cNvSpPr txBox="1"/>
          <p:nvPr/>
        </p:nvSpPr>
        <p:spPr>
          <a:xfrm>
            <a:off x="704088" y="3099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6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11810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2018 más valioso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" y="34564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Luka Dončić: 27.7 PTS, 8.6 AST, 8.0 REB → valor 44.3.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04088" y="40325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+ HAVING con mínimo de 20 juegos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2953512"/>
            <a:ext cx="3931920" cy="1463040"/>
          </a:xfrm>
          <a:prstGeom prst="roundRect">
            <a:avLst>
              <a:gd name="adj" fmla="val 3750"/>
            </a:avLst>
          </a:prstGeom>
          <a:solidFill>
            <a:srgbClr val="F1F4F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0" name="Text 18"/>
          <p:cNvSpPr txBox="1"/>
          <p:nvPr/>
        </p:nvSpPr>
        <p:spPr>
          <a:xfrm>
            <a:off x="4864608" y="3099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6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311810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Nómina por estado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864608" y="34564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lidera con US$553.35 M en 2020/21; Texas US$388.25 M.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864608" y="40325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ALL + GROUP BY + RANK()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7091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E4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2 · SQL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hay realmente dentro de las consultas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08176"/>
            <a:ext cx="146304" cy="146304"/>
          </a:xfrm>
          <a:prstGeom prst="ellipse">
            <a:avLst/>
          </a:prstGeom>
          <a:solidFill>
            <a:srgbClr val="E4641E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 txBox="1"/>
          <p:nvPr/>
        </p:nvSpPr>
        <p:spPr>
          <a:xfrm>
            <a:off x="758952" y="1344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(WITH)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61848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Estructuran cada consulta en pasos legibles: team_games, talent, ranked, totals.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408176"/>
            <a:ext cx="146304" cy="146304"/>
          </a:xfrm>
          <a:prstGeom prst="ellipse">
            <a:avLst/>
          </a:prstGeom>
          <a:solidFill>
            <a:srgbClr val="E4641E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 txBox="1"/>
          <p:nvPr/>
        </p:nvSpPr>
        <p:spPr>
          <a:xfrm>
            <a:off x="4919472" y="1344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ALL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919472" y="161848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cada partido en dos filas (local y visitante) para analizar equipos, no juegos.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487168"/>
            <a:ext cx="146304" cy="146304"/>
          </a:xfrm>
          <a:prstGeom prst="ellipse">
            <a:avLst/>
          </a:prstGeom>
          <a:solidFill>
            <a:srgbClr val="E4641E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 txBox="1"/>
          <p:nvPr/>
        </p:nvSpPr>
        <p:spPr>
          <a:xfrm>
            <a:off x="758952" y="2423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de ventana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58952" y="26974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 y ROW_NUMBER() con PARTITION BY para el mejor de cada temporada y del ranking.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2487168"/>
            <a:ext cx="146304" cy="146304"/>
          </a:xfrm>
          <a:prstGeom prst="ellipse">
            <a:avLst/>
          </a:prstGeom>
          <a:solidFill>
            <a:srgbClr val="E4641E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4" name="Text 12"/>
          <p:cNvSpPr txBox="1"/>
          <p:nvPr/>
        </p:nvSpPr>
        <p:spPr>
          <a:xfrm>
            <a:off x="4919472" y="2423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Subconsultas escalares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919472" y="26974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anidado en Q5 y Q7; EXISTS para filtrar el draft 2018.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566160"/>
            <a:ext cx="146304" cy="146304"/>
          </a:xfrm>
          <a:prstGeom prst="ellipse">
            <a:avLst/>
          </a:prstGeom>
          <a:solidFill>
            <a:srgbClr val="E4641E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7" name="Text 15"/>
          <p:cNvSpPr txBox="1"/>
          <p:nvPr/>
        </p:nvSpPr>
        <p:spPr>
          <a:xfrm>
            <a:off x="758952" y="3502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Agregados estadísticos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58952" y="377647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corr(), STDDEV_POP() y promedios ponderados por partidos jugados.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3566160"/>
            <a:ext cx="146304" cy="146304"/>
          </a:xfrm>
          <a:prstGeom prst="ellipse">
            <a:avLst/>
          </a:prstGeom>
          <a:solidFill>
            <a:srgbClr val="E4641E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0" name="Text 18"/>
          <p:cNvSpPr txBox="1"/>
          <p:nvPr/>
        </p:nvSpPr>
        <p:spPr>
          <a:xfrm>
            <a:off x="4919472" y="3502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919472" y="377647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vistas encadenadas guardan la lógica de la Etapa 3 dentro de la base.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7091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02920" y="566928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Verificación contra la especificación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2432304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Evidencia en el proyecto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F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 menos 15 consultas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de Etapa 2 + 8 de Etapa 3 = 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464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F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o más GROUP BY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Q2, Q3, Q5, Q6, Q8 y las vistas de Etapa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464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F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o más JOIN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Q1, Q3, Q4, Q7, Q8 y las consultas financieras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464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F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o más subconsultas / CTE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Q2, Q4, Q5, Q6, Q7, Q8 y Etapa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464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F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Resultados basados en SQL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reproducibles en docs/results/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464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F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Pregunta de negocio respondida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 final recomienda Utah Jazz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464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41605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de control: los CTE estructuran las consultas, pero Q5 y Q7 también contienen SELECT anidados, por si se discute la definición de “subquery”.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091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02920" y="566928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 3: de resultados SQL a un criterio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560320" cy="2011680"/>
          </a:xfrm>
          <a:prstGeom prst="roundRect">
            <a:avLst>
              <a:gd name="adj" fmla="val 2727"/>
            </a:avLst>
          </a:prstGeom>
          <a:solidFill>
            <a:srgbClr val="F1F4F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" name="Shape 3"/>
          <p:cNvSpPr/>
          <p:nvPr/>
        </p:nvSpPr>
        <p:spPr>
          <a:xfrm>
            <a:off x="731520" y="1517904"/>
            <a:ext cx="164592" cy="164592"/>
          </a:xfrm>
          <a:prstGeom prst="ellipse">
            <a:avLst/>
          </a:prstGeom>
          <a:solidFill>
            <a:srgbClr val="0F203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 txBox="1"/>
          <p:nvPr/>
        </p:nvSpPr>
        <p:spPr>
          <a:xfrm>
            <a:off x="731520" y="17556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33.33%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488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deportivo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97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 medio, estabilidad, crecimiento y margen de puntos.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325880"/>
            <a:ext cx="2560320" cy="2011680"/>
          </a:xfrm>
          <a:prstGeom prst="roundRect">
            <a:avLst>
              <a:gd name="adj" fmla="val 2727"/>
            </a:avLst>
          </a:prstGeom>
          <a:solidFill>
            <a:srgbClr val="F1F4F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0" name="Shape 8"/>
          <p:cNvSpPr/>
          <p:nvPr/>
        </p:nvSpPr>
        <p:spPr>
          <a:xfrm>
            <a:off x="3520440" y="1517904"/>
            <a:ext cx="164592" cy="164592"/>
          </a:xfrm>
          <a:prstGeom prst="ellipse">
            <a:avLst/>
          </a:prstGeom>
          <a:solidFill>
            <a:srgbClr val="E4641E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 txBox="1"/>
          <p:nvPr/>
        </p:nvSpPr>
        <p:spPr>
          <a:xfrm>
            <a:off x="3520440" y="17556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46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33.33%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1488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financiera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697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Victorias de 2020/21 por cada millón de dólares de nómina.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1325880"/>
            <a:ext cx="2560320" cy="2011680"/>
          </a:xfrm>
          <a:prstGeom prst="roundRect">
            <a:avLst>
              <a:gd name="adj" fmla="val 2727"/>
            </a:avLst>
          </a:prstGeom>
          <a:solidFill>
            <a:srgbClr val="F1F4F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5" name="Shape 13"/>
          <p:cNvSpPr/>
          <p:nvPr/>
        </p:nvSpPr>
        <p:spPr>
          <a:xfrm>
            <a:off x="6309360" y="1517904"/>
            <a:ext cx="164592" cy="164592"/>
          </a:xfrm>
          <a:prstGeom prst="ellipse">
            <a:avLst/>
          </a:prstGeom>
          <a:solidFill>
            <a:srgbClr val="1C3557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6" name="Text 14"/>
          <p:cNvSpPr txBox="1"/>
          <p:nvPr/>
        </p:nvSpPr>
        <p:spPr>
          <a:xfrm>
            <a:off x="6309360" y="17556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33.33%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1488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Talento de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2697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PTS+AST+REB, plus/minus y menor dependencia del máximo anotador.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611880"/>
            <a:ext cx="8138160" cy="822960"/>
          </a:xfrm>
          <a:prstGeom prst="roundRect">
            <a:avLst>
              <a:gd name="adj" fmla="val 6667"/>
            </a:avLst>
          </a:prstGeom>
          <a:solidFill>
            <a:srgbClr val="0F203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0" name="Text 18"/>
          <p:cNvSpPr txBox="1"/>
          <p:nvPr/>
        </p:nvSpPr>
        <p:spPr>
          <a:xfrm>
            <a:off x="731520" y="37033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4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 antes de combinar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395020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indicador se lleva a una escala de 0 a 100 (min-max) para que comparen unidades distintas. En variabilidad y dependencia se invierte la escala: menos es mejor, así que un valor bajo recibe un puntaje alto.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7091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02920" y="566928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Pilar 1: ganar, ganar estable y ganar con margen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298448"/>
          <a:ext cx="512064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852160" y="13716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46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0.6041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5852160" y="170078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 medio de Utah en seis temporadas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21488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46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0.0647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247802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variabilidad: alto nivel y además estable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29260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46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4.39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5852160" y="325526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medio por partido (Golden State lidera con 5.05)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852160" y="37033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46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+22.05 pp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5852160" y="403250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crecimiento: no es el mayor, pero cierra en un nivel alto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47091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E4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3 · DINERO Y TALENTO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Pilares 2 y 3: el costo de ganar y el talento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298448"/>
          <a:ext cx="512064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1371600"/>
            <a:ext cx="2834640" cy="9144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" name="Text 3"/>
          <p:cNvSpPr txBox="1"/>
          <p:nvPr/>
        </p:nvSpPr>
        <p:spPr>
          <a:xfrm>
            <a:off x="5989320" y="146304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 victorias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989320" y="17556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una nómina cercana a US$136.05 millones: 0.3749 victorias por millón.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806440" y="2423160"/>
            <a:ext cx="2834640" cy="9144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9" name="Text 6"/>
          <p:cNvSpPr txBox="1"/>
          <p:nvPr/>
        </p:nvSpPr>
        <p:spPr>
          <a:xfrm>
            <a:off x="5989320" y="25146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16.50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989320" y="280720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talento base de Utah (PTS+AST+REB ponderado por partidos) y plus/minus de 4.05.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806440" y="3474720"/>
            <a:ext cx="2834640" cy="9144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2" name="Text 9"/>
          <p:cNvSpPr txBox="1"/>
          <p:nvPr/>
        </p:nvSpPr>
        <p:spPr>
          <a:xfrm>
            <a:off x="5989320" y="356616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16.71%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989320" y="38587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producción ofensiva depende del máximo anotador: un plantel repartido.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47091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E4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3 · RESULTADO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recomendación: Utah Jazz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11480" y="1325880"/>
          <a:ext cx="50292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417320"/>
          <a:ext cx="3063240" cy="164592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F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9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F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9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F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9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F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9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F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9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Utah Jazz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82.69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9D4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Milwaukee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9D4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9D4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9D4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63.91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9D4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9D4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Clippers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9D4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9D4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9D4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9D4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9D4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9D4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9D4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80.58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9D4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9D4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62.54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9D4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Portland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9D4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9D4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9D4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9D4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59.77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4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577840" y="32918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Utah no es primero en cada indicador: gana por el mejor balance. Su ventaja viene de dos pilares fuertes (82.69 deportivo y 81.67 financiero) con un talento competitivo de 61.06.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47091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02920" y="566928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¿La respuesta depende de los pesos que elegimos?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25880"/>
          <a:ext cx="502920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069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cuatro escenarios el ganador es Utah Jazz.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760720" y="1325880"/>
            <a:ext cx="2880360" cy="2651760"/>
          </a:xfrm>
          <a:prstGeom prst="roundRect">
            <a:avLst>
              <a:gd name="adj" fmla="val 2069"/>
            </a:avLst>
          </a:prstGeom>
          <a:solidFill>
            <a:srgbClr val="F1F4F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7" name="Text 4"/>
          <p:cNvSpPr txBox="1"/>
          <p:nvPr/>
        </p:nvSpPr>
        <p:spPr>
          <a:xfrm>
            <a:off x="5989320" y="1463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probó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89320" y="1783080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escenario equilibrado con un tercio por pilar.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escenarios donde un pilar recibe 50% y los otros dos 25% cada uno.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se calcula en una sola consulta con VALUES y CROSS JOIN sobre la vista del ranking.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760720" y="40690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muestra que la recomendación es estable dentro del modelo probado; no prueba que Utah gane bajo cualquier modelo posible.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47091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02920" y="566928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este análisis no dice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31920" cy="960120"/>
          </a:xfrm>
          <a:prstGeom prst="roundRect">
            <a:avLst>
              <a:gd name="adj" fmla="val 5714"/>
            </a:avLst>
          </a:prstGeom>
          <a:solidFill>
            <a:srgbClr val="F1F4F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 txBox="1"/>
          <p:nvPr/>
        </p:nvSpPr>
        <p:spPr>
          <a:xfrm>
            <a:off x="731520" y="145389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 financieros de franquicia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28216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ingresos, utilidades ni precio de compra: es un ranking deportivo-financiero, no una valoración.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3931920" cy="960120"/>
          </a:xfrm>
          <a:prstGeom prst="roundRect">
            <a:avLst>
              <a:gd name="adj" fmla="val 5714"/>
            </a:avLst>
          </a:prstGeom>
          <a:solidFill>
            <a:srgbClr val="F1F4F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 txBox="1"/>
          <p:nvPr/>
        </p:nvSpPr>
        <p:spPr>
          <a:xfrm>
            <a:off x="4892040" y="145389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Nóminas, no estados auditados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728216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salarios vienen de una captura de contratos.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423160"/>
            <a:ext cx="3931920" cy="960120"/>
          </a:xfrm>
          <a:prstGeom prst="roundRect">
            <a:avLst>
              <a:gd name="adj" fmla="val 5714"/>
            </a:avLst>
          </a:prstGeom>
          <a:solidFill>
            <a:srgbClr val="F1F4F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 txBox="1"/>
          <p:nvPr/>
        </p:nvSpPr>
        <p:spPr>
          <a:xfrm>
            <a:off x="731520" y="255117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correlacionadas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825496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victorias entran en el pilar deportivo y también en la eficiencia financiera.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423160"/>
            <a:ext cx="3931920" cy="960120"/>
          </a:xfrm>
          <a:prstGeom prst="roundRect">
            <a:avLst>
              <a:gd name="adj" fmla="val 5714"/>
            </a:avLst>
          </a:prstGeom>
          <a:solidFill>
            <a:srgbClr val="F1F4F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4" name="Text 12"/>
          <p:cNvSpPr txBox="1"/>
          <p:nvPr/>
        </p:nvSpPr>
        <p:spPr>
          <a:xfrm>
            <a:off x="4892040" y="255117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fija a 2020/21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825496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modelan fichajes, lesiones ni cambios de plantilla posteriores.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520440"/>
            <a:ext cx="3931920" cy="960120"/>
          </a:xfrm>
          <a:prstGeom prst="roundRect">
            <a:avLst>
              <a:gd name="adj" fmla="val 5714"/>
            </a:avLst>
          </a:prstGeom>
          <a:solidFill>
            <a:srgbClr val="F1F4F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7" name="Text 15"/>
          <p:cNvSpPr txBox="1"/>
          <p:nvPr/>
        </p:nvSpPr>
        <p:spPr>
          <a:xfrm>
            <a:off x="731520" y="364845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PTS+AST+REB es un criterio del grupo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922776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premio MVP ni una valoración de mercado del jugador.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7091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4160520"/>
            <a:ext cx="2194560" cy="2194560"/>
          </a:xfrm>
          <a:prstGeom prst="ellipse">
            <a:avLst/>
          </a:prstGeom>
          <a:solidFill>
            <a:srgbClr val="E4641E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E46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Invertir en Utah Jazz para 2021/22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75.14 puntos sobre 100, con el mejor balance entre rendimiento deportivo, eficiencia de nómina y talento, y una recomendación que se mantiene en los cuatro escenarios de pesos.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146304" cy="146304"/>
          </a:xfrm>
          <a:prstGeom prst="ellipse">
            <a:avLst/>
          </a:prstGeom>
          <a:solidFill>
            <a:srgbClr val="E4641E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7" name="Text 5"/>
          <p:cNvSpPr txBox="1"/>
          <p:nvPr/>
        </p:nvSpPr>
        <p:spPr>
          <a:xfrm>
            <a:off x="896112" y="27249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reproducible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03580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Diez tablas, cargadores idempotentes y credenciales fuera del repositorio.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2788920"/>
            <a:ext cx="146304" cy="146304"/>
          </a:xfrm>
          <a:prstGeom prst="ellipse">
            <a:avLst/>
          </a:prstGeom>
          <a:solidFill>
            <a:srgbClr val="E4641E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 txBox="1"/>
          <p:nvPr/>
        </p:nvSpPr>
        <p:spPr>
          <a:xfrm>
            <a:off x="3593592" y="27249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auditados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593592" y="303580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Duplicados, W/L faltantes y nombres inconsistentes documentados y corregidos.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2788920"/>
            <a:ext cx="146304" cy="146304"/>
          </a:xfrm>
          <a:prstGeom prst="ellipse">
            <a:avLst/>
          </a:prstGeom>
          <a:solidFill>
            <a:srgbClr val="E4641E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3" name="Text 11"/>
          <p:cNvSpPr txBox="1"/>
          <p:nvPr/>
        </p:nvSpPr>
        <p:spPr>
          <a:xfrm>
            <a:off x="6291072" y="27249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trazable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291072" y="303580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consultas, cuatro vistas y resultados guardados en JSON.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251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Gracias. ¿Preguntas?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13</TotalTime>
  <Words>2292</Words>
  <Application>Microsoft Office PowerPoint</Application>
  <PresentationFormat>Presentación en pantalla (16:9)</PresentationFormat>
  <Paragraphs>324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1 - Base de Datos NBA</dc:title>
  <dc:subject>PptxGenJS Presentation</dc:subject>
  <dc:creator>Andrew Arana, Christopher Garcia, Rodrigo Ramirez</dc:creator>
  <cp:lastModifiedBy>RAMIREZ CALDERON, RODRIGO EDUARDO</cp:lastModifiedBy>
  <cp:revision>2</cp:revision>
  <dcterms:created xsi:type="dcterms:W3CDTF">2026-09-09T04:52:59Z</dcterms:created>
  <dcterms:modified xsi:type="dcterms:W3CDTF">2026-09-09T05:10:46Z</dcterms:modified>
</cp:coreProperties>
</file>